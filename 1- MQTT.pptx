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4"/>
  </p:sldMasterIdLst>
  <p:notesMasterIdLst>
    <p:notesMasterId r:id="rId13"/>
  </p:notesMasterIdLst>
  <p:sldIdLst>
    <p:sldId id="275" r:id="rId5"/>
    <p:sldId id="287" r:id="rId6"/>
    <p:sldId id="290" r:id="rId7"/>
    <p:sldId id="288" r:id="rId8"/>
    <p:sldId id="289" r:id="rId9"/>
    <p:sldId id="291" r:id="rId10"/>
    <p:sldId id="292" r:id="rId11"/>
    <p:sldId id="293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1D6"/>
    <a:srgbClr val="1A4B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9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134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367BCE-47C6-4348-94ED-258A929CEAFF}" type="datetimeFigureOut">
              <a:rPr lang="pt-BR" smtClean="0"/>
              <a:t>21/07/2026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1AF7D2-3811-4DA7-85FF-B34CF1A20A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8543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82CD25-3430-43E3-B897-9A8F9DAE0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C1F0E09-CD89-4518-BBEE-6ADA66126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B575AE-30B8-4D15-9BC5-FCBA9CAF3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907F-2D02-4CFE-9E27-66FAE7EEEF0D}" type="datetimeFigureOut">
              <a:rPr lang="pt-BR" smtClean="0"/>
              <a:t>21/07/2026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669639-69E1-4453-99EC-976111061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3B2AAD-961E-48B1-9C7B-09CFA9BEF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11C3-8C66-47CF-BC59-D0DA891A4F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6561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02EE15-1A8B-4A9A-967A-7E843B99F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D6DECD-5A40-414A-91F9-5FFD582E7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43BF64-0B79-4D16-9339-25A32FB95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907F-2D02-4CFE-9E27-66FAE7EEEF0D}" type="datetimeFigureOut">
              <a:rPr lang="pt-BR" smtClean="0"/>
              <a:t>21/07/2026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E4D83E-BED4-4477-9A50-B0FAECD21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BD275E-DC76-42BE-B525-412CAEB8E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11C3-8C66-47CF-BC59-D0DA891A4F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5517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0457E4-1153-46D5-9F3E-6B944158E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2E32BBD-74F1-4976-8C99-D0D9EC5D7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A1D772-80D8-44EE-9151-D37391152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907F-2D02-4CFE-9E27-66FAE7EEEF0D}" type="datetimeFigureOut">
              <a:rPr lang="pt-BR" smtClean="0"/>
              <a:t>21/07/2026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32B645-9ED3-40A6-89C7-0C5D008D3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66970E-C464-4439-A776-7CA0EC7F0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11C3-8C66-47CF-BC59-D0DA891A4F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8443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22D570-4C26-40A3-AC37-E75639AFF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B8C659-332E-4306-93F1-4F106A3150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9B614C8-4971-4ACF-A638-80997AF683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B6FC8F-D3EF-4D61-9173-B7CBADBF6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907F-2D02-4CFE-9E27-66FAE7EEEF0D}" type="datetimeFigureOut">
              <a:rPr lang="pt-BR" smtClean="0"/>
              <a:t>21/07/2026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90D5B4C-8863-40CA-80E0-5D6CD0049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4F577A5-C1C2-4F41-9CE0-8C7EAC44D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11C3-8C66-47CF-BC59-D0DA891A4F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1069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0256C1-D124-41F1-AAF1-83102C6CC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59284D-A8E9-4115-9A9D-6F0EAE25E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D8C0B4A-CF4B-45AF-9A32-F006D4D02D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DFE4E90-F22A-464F-8B51-D5BB4D4735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483C46B-15C0-4BAE-BF87-52998ECB89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30EB3FB-8D76-47F9-AC96-71AC82CCD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907F-2D02-4CFE-9E27-66FAE7EEEF0D}" type="datetimeFigureOut">
              <a:rPr lang="pt-BR" smtClean="0"/>
              <a:t>21/07/2026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10E91CC-08A1-4E75-B3A3-D9D4F4E48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436815C-7065-49B3-95E1-0955CE945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11C3-8C66-47CF-BC59-D0DA891A4F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8251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56C3B1-274E-4EFB-862D-8C76A63B2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D5E9CE2-78DD-4466-A5BC-BA15AF44A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907F-2D02-4CFE-9E27-66FAE7EEEF0D}" type="datetimeFigureOut">
              <a:rPr lang="pt-BR" smtClean="0"/>
              <a:t>21/07/2026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94B1895-18E1-4E0D-AA9C-19D984B60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0B72555-5344-4FBB-ADBD-3777E35D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11C3-8C66-47CF-BC59-D0DA891A4F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4759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F38FF47-42FA-46FD-8122-7C94F1A76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907F-2D02-4CFE-9E27-66FAE7EEEF0D}" type="datetimeFigureOut">
              <a:rPr lang="pt-BR" smtClean="0"/>
              <a:t>21/07/2026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22A5220-025F-42CF-947E-903627E99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B97080B-023D-42AC-A580-A24449601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11C3-8C66-47CF-BC59-D0DA891A4F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5612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9545BC-B23E-4184-9FBB-39A401681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6B89C2-3A72-4E50-9A74-605C928E0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65D48D4-DADA-4D11-8720-0B1F8B8D4D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7F3400-6D51-4319-8159-C09800413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907F-2D02-4CFE-9E27-66FAE7EEEF0D}" type="datetimeFigureOut">
              <a:rPr lang="pt-BR" smtClean="0"/>
              <a:t>21/07/2026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94424B7-0626-4CB7-8CF0-7B586460E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58C8954-11CD-4B05-866E-97CC0CDDC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11C3-8C66-47CF-BC59-D0DA891A4F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4160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277399-99B2-42BB-8966-7690A9C5E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D6FE7B3-4CDD-477C-8B61-9697007295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B12B729-CB55-4305-8167-5A25F5B14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10EB23B-7B8D-4A08-A6B9-795F7B82D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907F-2D02-4CFE-9E27-66FAE7EEEF0D}" type="datetimeFigureOut">
              <a:rPr lang="pt-BR" smtClean="0"/>
              <a:t>21/07/2026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AB8BF6-9D80-4866-9385-55F4EFDF7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02EE895-D9E3-4665-824B-E4926E179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11C3-8C66-47CF-BC59-D0DA891A4F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0155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D90A14-1E85-4C8B-BFC1-AAA2C1921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C74D7C1-7406-467D-B11D-2FB6D3A19A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961D61-54F9-4048-956C-1A6B10DCC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907F-2D02-4CFE-9E27-66FAE7EEEF0D}" type="datetimeFigureOut">
              <a:rPr lang="pt-BR" smtClean="0"/>
              <a:t>21/07/2026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EBA8A8-C8B2-4F36-8B16-54AF0D746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69BEC3-6351-4A2A-92DC-96FABC0AE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11C3-8C66-47CF-BC59-D0DA891A4F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802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EF42852-99A3-48F5-A0BE-101058CAAE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81CC780-6732-4351-915D-B5B4920147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D3450B-C816-4C0B-9F95-DC5FB8DFF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907F-2D02-4CFE-9E27-66FAE7EEEF0D}" type="datetimeFigureOut">
              <a:rPr lang="pt-BR" smtClean="0"/>
              <a:t>21/07/2026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499E88-686E-4276-AE9A-37E53D1F3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E287F5-F04C-4F40-BC64-257406E00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11C3-8C66-47CF-BC59-D0DA891A4F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423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p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FA6AD728-F2D2-4F35-A7FB-735FCDE5D6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1875" y="2940553"/>
            <a:ext cx="5691188" cy="12624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ln>
                  <a:noFill/>
                </a:ln>
                <a:solidFill>
                  <a:schemeClr val="bg1"/>
                </a:solidFill>
                <a:latin typeface="Arial Black" panose="020B0A04020102020204" pitchFamily="34" charset="0"/>
              </a:defRPr>
            </a:lvl1pPr>
            <a:lvl2pPr>
              <a:defRPr>
                <a:ln>
                  <a:noFill/>
                </a:ln>
                <a:solidFill>
                  <a:schemeClr val="bg1"/>
                </a:solidFill>
              </a:defRPr>
            </a:lvl2pPr>
            <a:lvl3pPr>
              <a:defRPr>
                <a:ln>
                  <a:noFill/>
                </a:ln>
                <a:solidFill>
                  <a:schemeClr val="bg1"/>
                </a:solidFill>
              </a:defRPr>
            </a:lvl3pPr>
            <a:lvl4pPr>
              <a:defRPr>
                <a:ln>
                  <a:noFill/>
                </a:ln>
                <a:solidFill>
                  <a:schemeClr val="bg1"/>
                </a:solidFill>
              </a:defRPr>
            </a:lvl4pPr>
            <a:lvl5pPr>
              <a:defRPr>
                <a:ln>
                  <a:noFill/>
                </a:ln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Título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90889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Claro - 2 tex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9FA592D6-04D5-4455-82AD-4101776B3D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13448" y="1479550"/>
            <a:ext cx="4380814" cy="57949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1A4B9F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92E56821-DAB4-4240-BD01-17BBCF3FF8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13448" y="2170821"/>
            <a:ext cx="4380814" cy="361160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  <p:sp>
        <p:nvSpPr>
          <p:cNvPr id="4" name="Espaço Reservado para Texto 12">
            <a:extLst>
              <a:ext uri="{FF2B5EF4-FFF2-40B4-BE49-F238E27FC236}">
                <a16:creationId xmlns:a16="http://schemas.microsoft.com/office/drawing/2014/main" id="{90904193-4578-46B1-8291-6575C4D858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1270" y="1479550"/>
            <a:ext cx="4380814" cy="57949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1A4B9F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5" name="Espaço Reservado para Texto 14">
            <a:extLst>
              <a:ext uri="{FF2B5EF4-FFF2-40B4-BE49-F238E27FC236}">
                <a16:creationId xmlns:a16="http://schemas.microsoft.com/office/drawing/2014/main" id="{A627A786-3902-48A6-BFE0-6A02CC0BC8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1270" y="2170821"/>
            <a:ext cx="4380814" cy="361160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</p:spTree>
    <p:extLst>
      <p:ext uri="{BB962C8B-B14F-4D97-AF65-F5344CB8AC3E}">
        <p14:creationId xmlns:p14="http://schemas.microsoft.com/office/powerpoint/2010/main" val="12270356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laro - F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EA353B62-7E42-4A99-8038-4A52909E9B2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38147" y="1355725"/>
            <a:ext cx="5256213" cy="4611688"/>
          </a:xfrm>
          <a:prstGeom prst="roundRect">
            <a:avLst>
              <a:gd name="adj" fmla="val 4827"/>
            </a:avLst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rgbClr val="1A4B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dirty="0"/>
              <a:t>Insira imagem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9FA592D6-04D5-4455-82AD-4101776B3D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57850" y="1479550"/>
            <a:ext cx="4756150" cy="57949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1A4B9F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92E56821-DAB4-4240-BD01-17BBCF3FF8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57850" y="2170821"/>
            <a:ext cx="4756150" cy="361160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</p:spTree>
    <p:extLst>
      <p:ext uri="{BB962C8B-B14F-4D97-AF65-F5344CB8AC3E}">
        <p14:creationId xmlns:p14="http://schemas.microsoft.com/office/powerpoint/2010/main" val="28240355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azul - F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EA353B62-7E42-4A99-8038-4A52909E9B2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38147" y="1355725"/>
            <a:ext cx="5256213" cy="4611688"/>
          </a:xfrm>
          <a:prstGeom prst="roundRect">
            <a:avLst>
              <a:gd name="adj" fmla="val 4827"/>
            </a:avLst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rgbClr val="1A4B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dirty="0"/>
              <a:t>Insira imagem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9FA592D6-04D5-4455-82AD-4101776B3D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57850" y="1479550"/>
            <a:ext cx="4756150" cy="57949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92E56821-DAB4-4240-BD01-17BBCF3FF8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57850" y="2170821"/>
            <a:ext cx="4756150" cy="361160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</p:spTree>
    <p:extLst>
      <p:ext uri="{BB962C8B-B14F-4D97-AF65-F5344CB8AC3E}">
        <p14:creationId xmlns:p14="http://schemas.microsoft.com/office/powerpoint/2010/main" val="3876768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laro - 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9FA592D6-04D5-4455-82AD-4101776B3D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89701" y="1479550"/>
            <a:ext cx="7564768" cy="57949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1A4B9F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92E56821-DAB4-4240-BD01-17BBCF3FF8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89701" y="2170821"/>
            <a:ext cx="7564768" cy="361160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</p:spTree>
    <p:extLst>
      <p:ext uri="{BB962C8B-B14F-4D97-AF65-F5344CB8AC3E}">
        <p14:creationId xmlns:p14="http://schemas.microsoft.com/office/powerpoint/2010/main" val="35656856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azul - 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9FA592D6-04D5-4455-82AD-4101776B3D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89701" y="1479550"/>
            <a:ext cx="7564768" cy="57949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92E56821-DAB4-4240-BD01-17BBCF3FF8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89701" y="2170821"/>
            <a:ext cx="7564768" cy="361160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</p:spTree>
    <p:extLst>
      <p:ext uri="{BB962C8B-B14F-4D97-AF65-F5344CB8AC3E}">
        <p14:creationId xmlns:p14="http://schemas.microsoft.com/office/powerpoint/2010/main" val="40448319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azul  - 2 tex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9FA592D6-04D5-4455-82AD-4101776B3D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13448" y="1479550"/>
            <a:ext cx="4380814" cy="57949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92E56821-DAB4-4240-BD01-17BBCF3FF8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13448" y="2170821"/>
            <a:ext cx="4380814" cy="361160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  <p:sp>
        <p:nvSpPr>
          <p:cNvPr id="4" name="Espaço Reservado para Texto 12">
            <a:extLst>
              <a:ext uri="{FF2B5EF4-FFF2-40B4-BE49-F238E27FC236}">
                <a16:creationId xmlns:a16="http://schemas.microsoft.com/office/drawing/2014/main" id="{90904193-4578-46B1-8291-6575C4D858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1270" y="1479550"/>
            <a:ext cx="4380814" cy="57949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5" name="Espaço Reservado para Texto 14">
            <a:extLst>
              <a:ext uri="{FF2B5EF4-FFF2-40B4-BE49-F238E27FC236}">
                <a16:creationId xmlns:a16="http://schemas.microsoft.com/office/drawing/2014/main" id="{A627A786-3902-48A6-BFE0-6A02CC0BC8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1270" y="2170821"/>
            <a:ext cx="4380814" cy="361160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</p:spTree>
    <p:extLst>
      <p:ext uri="{BB962C8B-B14F-4D97-AF65-F5344CB8AC3E}">
        <p14:creationId xmlns:p14="http://schemas.microsoft.com/office/powerpoint/2010/main" val="10468121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azu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21784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azu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55907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azul - iten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E37765-E8AA-437A-AB91-BA359DE9ECD8}"/>
              </a:ext>
            </a:extLst>
          </p:cNvPr>
          <p:cNvSpPr>
            <a:spLocks noChangeAspect="1"/>
          </p:cNvSpPr>
          <p:nvPr userDrawn="1"/>
        </p:nvSpPr>
        <p:spPr>
          <a:xfrm>
            <a:off x="6120665" y="1821180"/>
            <a:ext cx="2576013" cy="3517574"/>
          </a:xfrm>
          <a:prstGeom prst="roundRect">
            <a:avLst>
              <a:gd name="adj" fmla="val 6898"/>
            </a:avLst>
          </a:prstGeom>
          <a:solidFill>
            <a:schemeClr val="bg1"/>
          </a:solidFill>
          <a:ln>
            <a:noFill/>
          </a:ln>
          <a:effectLst>
            <a:outerShdw blurRad="241300" sx="102000" sy="102000" algn="ctr" rotWithShape="0">
              <a:schemeClr val="bg2">
                <a:lumMod val="10000"/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C375CA9F-113D-410C-9E46-40388EDBBC19}"/>
              </a:ext>
            </a:extLst>
          </p:cNvPr>
          <p:cNvSpPr>
            <a:spLocks noChangeAspect="1"/>
          </p:cNvSpPr>
          <p:nvPr userDrawn="1"/>
        </p:nvSpPr>
        <p:spPr>
          <a:xfrm>
            <a:off x="570654" y="1821180"/>
            <a:ext cx="2576013" cy="3517574"/>
          </a:xfrm>
          <a:prstGeom prst="roundRect">
            <a:avLst>
              <a:gd name="adj" fmla="val 6898"/>
            </a:avLst>
          </a:prstGeom>
          <a:solidFill>
            <a:schemeClr val="bg1"/>
          </a:solidFill>
          <a:ln>
            <a:noFill/>
          </a:ln>
          <a:effectLst>
            <a:outerShdw blurRad="241300" sx="102000" sy="102000" algn="ctr" rotWithShape="0">
              <a:schemeClr val="bg2">
                <a:lumMod val="10000"/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3DFD0370-7C65-4259-A272-E1741E5437D6}"/>
              </a:ext>
            </a:extLst>
          </p:cNvPr>
          <p:cNvSpPr>
            <a:spLocks noChangeAspect="1"/>
          </p:cNvSpPr>
          <p:nvPr userDrawn="1"/>
        </p:nvSpPr>
        <p:spPr>
          <a:xfrm>
            <a:off x="3321348" y="1821180"/>
            <a:ext cx="2576013" cy="3517574"/>
          </a:xfrm>
          <a:prstGeom prst="roundRect">
            <a:avLst>
              <a:gd name="adj" fmla="val 6898"/>
            </a:avLst>
          </a:prstGeom>
          <a:solidFill>
            <a:schemeClr val="bg1"/>
          </a:solidFill>
          <a:ln>
            <a:noFill/>
          </a:ln>
          <a:effectLst>
            <a:outerShdw blurRad="241300" sx="102000" sy="102000" algn="ctr" rotWithShape="0">
              <a:schemeClr val="bg2">
                <a:lumMod val="10000"/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 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BDFDBF0F-7657-499F-9612-72FED47B8A37}"/>
              </a:ext>
            </a:extLst>
          </p:cNvPr>
          <p:cNvSpPr>
            <a:spLocks noChangeAspect="1"/>
          </p:cNvSpPr>
          <p:nvPr userDrawn="1"/>
        </p:nvSpPr>
        <p:spPr>
          <a:xfrm>
            <a:off x="8917658" y="1821180"/>
            <a:ext cx="2576013" cy="3517574"/>
          </a:xfrm>
          <a:prstGeom prst="roundRect">
            <a:avLst>
              <a:gd name="adj" fmla="val 6898"/>
            </a:avLst>
          </a:prstGeom>
          <a:solidFill>
            <a:schemeClr val="bg1"/>
          </a:solidFill>
          <a:ln>
            <a:noFill/>
          </a:ln>
          <a:effectLst>
            <a:outerShdw blurRad="241300" sx="102000" sy="102000" algn="ctr" rotWithShape="0">
              <a:schemeClr val="bg2">
                <a:lumMod val="10000"/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spaço Reservado para Texto 12">
            <a:extLst>
              <a:ext uri="{FF2B5EF4-FFF2-40B4-BE49-F238E27FC236}">
                <a16:creationId xmlns:a16="http://schemas.microsoft.com/office/drawing/2014/main" id="{A1702B52-F5F6-499D-B5FF-443DB03445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8329" y="2078187"/>
            <a:ext cx="1788313" cy="243994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1A4B9F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3" name="Espaço Reservado para Texto 14">
            <a:extLst>
              <a:ext uri="{FF2B5EF4-FFF2-40B4-BE49-F238E27FC236}">
                <a16:creationId xmlns:a16="http://schemas.microsoft.com/office/drawing/2014/main" id="{48951E8D-3538-4FF5-A8FB-A8F211927CC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8329" y="2473935"/>
            <a:ext cx="2281694" cy="2538819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091D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  <p:sp>
        <p:nvSpPr>
          <p:cNvPr id="14" name="Espaço Reservado para Texto 12">
            <a:extLst>
              <a:ext uri="{FF2B5EF4-FFF2-40B4-BE49-F238E27FC236}">
                <a16:creationId xmlns:a16="http://schemas.microsoft.com/office/drawing/2014/main" id="{ED10EFA1-3EE1-44AD-8664-2BBC3FE2CA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42626" y="2078187"/>
            <a:ext cx="1788313" cy="243994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1A4B9F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597923C7-9903-4BE6-93FE-D1CAFC9842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2626" y="2473935"/>
            <a:ext cx="2281694" cy="2538819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091D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  <p:sp>
        <p:nvSpPr>
          <p:cNvPr id="16" name="Espaço Reservado para Texto 12">
            <a:extLst>
              <a:ext uri="{FF2B5EF4-FFF2-40B4-BE49-F238E27FC236}">
                <a16:creationId xmlns:a16="http://schemas.microsoft.com/office/drawing/2014/main" id="{14B393A8-9307-41EB-BB27-A2132A9CA16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65863" y="2078187"/>
            <a:ext cx="1788313" cy="243994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1A4B9F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7" name="Espaço Reservado para Texto 14">
            <a:extLst>
              <a:ext uri="{FF2B5EF4-FFF2-40B4-BE49-F238E27FC236}">
                <a16:creationId xmlns:a16="http://schemas.microsoft.com/office/drawing/2014/main" id="{40EE2A12-713B-4BE3-B172-768ACF4E8C9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5863" y="2473935"/>
            <a:ext cx="2281694" cy="2538819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091D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  <p:sp>
        <p:nvSpPr>
          <p:cNvPr id="18" name="Espaço Reservado para Texto 12">
            <a:extLst>
              <a:ext uri="{FF2B5EF4-FFF2-40B4-BE49-F238E27FC236}">
                <a16:creationId xmlns:a16="http://schemas.microsoft.com/office/drawing/2014/main" id="{5FFC8295-378E-44A4-A979-D8CAA64ABB4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82522" y="2078187"/>
            <a:ext cx="1788313" cy="243994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1A4B9F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9" name="Espaço Reservado para Texto 14">
            <a:extLst>
              <a:ext uri="{FF2B5EF4-FFF2-40B4-BE49-F238E27FC236}">
                <a16:creationId xmlns:a16="http://schemas.microsoft.com/office/drawing/2014/main" id="{578EFBBA-301F-4872-A225-2E2A51C919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82522" y="2473935"/>
            <a:ext cx="2281694" cy="2538819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091D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</p:spTree>
    <p:extLst>
      <p:ext uri="{BB962C8B-B14F-4D97-AF65-F5344CB8AC3E}">
        <p14:creationId xmlns:p14="http://schemas.microsoft.com/office/powerpoint/2010/main" val="37981660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údo com Le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35EE251C-EA26-4805-B478-BD01C3FAD28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789181" y="2225150"/>
            <a:ext cx="1355702" cy="1203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rgbClr val="1A4B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/>
              <a:t>Ícone</a:t>
            </a:r>
          </a:p>
        </p:txBody>
      </p:sp>
      <p:sp>
        <p:nvSpPr>
          <p:cNvPr id="12" name="Espaço Reservado para Conteúdo 10">
            <a:extLst>
              <a:ext uri="{FF2B5EF4-FFF2-40B4-BE49-F238E27FC236}">
                <a16:creationId xmlns:a16="http://schemas.microsoft.com/office/drawing/2014/main" id="{D1FBBF6B-7E36-4E39-9577-B65E4EF2E2E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418149" y="2225150"/>
            <a:ext cx="1355702" cy="1203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rgbClr val="1A4B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/>
              <a:t>Ícone</a:t>
            </a:r>
          </a:p>
        </p:txBody>
      </p:sp>
      <p:sp>
        <p:nvSpPr>
          <p:cNvPr id="13" name="Espaço Reservado para Conteúdo 10">
            <a:extLst>
              <a:ext uri="{FF2B5EF4-FFF2-40B4-BE49-F238E27FC236}">
                <a16:creationId xmlns:a16="http://schemas.microsoft.com/office/drawing/2014/main" id="{83790910-ECD5-4E88-A773-A3C7F179948A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047117" y="2225150"/>
            <a:ext cx="1355702" cy="1203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rgbClr val="1A4B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/>
              <a:t>Ícone</a:t>
            </a:r>
          </a:p>
        </p:txBody>
      </p:sp>
      <p:sp>
        <p:nvSpPr>
          <p:cNvPr id="14" name="Espaço Reservado para Texto 12">
            <a:extLst>
              <a:ext uri="{FF2B5EF4-FFF2-40B4-BE49-F238E27FC236}">
                <a16:creationId xmlns:a16="http://schemas.microsoft.com/office/drawing/2014/main" id="{92787206-45FA-4414-93BB-39DEE3F9AF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63388" y="3479389"/>
            <a:ext cx="2407288" cy="441348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1A4B9F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B6AFF79F-A55A-4724-8B09-BAE1988446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63388" y="4002373"/>
            <a:ext cx="2407288" cy="1359037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  <p:sp>
        <p:nvSpPr>
          <p:cNvPr id="16" name="Espaço Reservado para Texto 12">
            <a:extLst>
              <a:ext uri="{FF2B5EF4-FFF2-40B4-BE49-F238E27FC236}">
                <a16:creationId xmlns:a16="http://schemas.microsoft.com/office/drawing/2014/main" id="{74E1CDDE-2F53-47D7-92D8-C13247A919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92356" y="3479389"/>
            <a:ext cx="2407288" cy="441348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1A4B9F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7" name="Espaço Reservado para Texto 14">
            <a:extLst>
              <a:ext uri="{FF2B5EF4-FFF2-40B4-BE49-F238E27FC236}">
                <a16:creationId xmlns:a16="http://schemas.microsoft.com/office/drawing/2014/main" id="{44BA4392-EB59-445D-B824-86679C21690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92356" y="4002373"/>
            <a:ext cx="2407288" cy="1359037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  <p:sp>
        <p:nvSpPr>
          <p:cNvPr id="18" name="Espaço Reservado para Texto 12">
            <a:extLst>
              <a:ext uri="{FF2B5EF4-FFF2-40B4-BE49-F238E27FC236}">
                <a16:creationId xmlns:a16="http://schemas.microsoft.com/office/drawing/2014/main" id="{0AC87F58-5E45-4D04-B1FE-F13C699F793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21324" y="3479389"/>
            <a:ext cx="2407288" cy="441348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1A4B9F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9" name="Espaço Reservado para Texto 14">
            <a:extLst>
              <a:ext uri="{FF2B5EF4-FFF2-40B4-BE49-F238E27FC236}">
                <a16:creationId xmlns:a16="http://schemas.microsoft.com/office/drawing/2014/main" id="{42D17CCC-465A-4F9A-B297-E5AEEF029A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21324" y="4002373"/>
            <a:ext cx="2407288" cy="1359037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</p:spTree>
    <p:extLst>
      <p:ext uri="{BB962C8B-B14F-4D97-AF65-F5344CB8AC3E}">
        <p14:creationId xmlns:p14="http://schemas.microsoft.com/office/powerpoint/2010/main" val="26746854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10">
            <a:extLst>
              <a:ext uri="{FF2B5EF4-FFF2-40B4-BE49-F238E27FC236}">
                <a16:creationId xmlns:a16="http://schemas.microsoft.com/office/drawing/2014/main" id="{91C9DFF5-3563-4FE9-BAFD-EC1FFE13847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789181" y="2225150"/>
            <a:ext cx="1355702" cy="1203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rgbClr val="1A4B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/>
              <a:t>Ícone</a:t>
            </a:r>
          </a:p>
        </p:txBody>
      </p:sp>
      <p:sp>
        <p:nvSpPr>
          <p:cNvPr id="4" name="Espaço Reservado para Conteúdo 10">
            <a:extLst>
              <a:ext uri="{FF2B5EF4-FFF2-40B4-BE49-F238E27FC236}">
                <a16:creationId xmlns:a16="http://schemas.microsoft.com/office/drawing/2014/main" id="{33AEAA4D-427C-4E2D-9BB7-CEEB7DF6043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418149" y="2225150"/>
            <a:ext cx="1355702" cy="1203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rgbClr val="1A4B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/>
              <a:t>Ícone</a:t>
            </a:r>
          </a:p>
        </p:txBody>
      </p:sp>
      <p:sp>
        <p:nvSpPr>
          <p:cNvPr id="5" name="Espaço Reservado para Conteúdo 10">
            <a:extLst>
              <a:ext uri="{FF2B5EF4-FFF2-40B4-BE49-F238E27FC236}">
                <a16:creationId xmlns:a16="http://schemas.microsoft.com/office/drawing/2014/main" id="{4B7CFF3C-35EA-4D0A-96CB-98277B5F574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047117" y="2225150"/>
            <a:ext cx="1355702" cy="1203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rgbClr val="1A4B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/>
              <a:t>Ícone</a:t>
            </a:r>
          </a:p>
        </p:txBody>
      </p:sp>
      <p:sp>
        <p:nvSpPr>
          <p:cNvPr id="6" name="Espaço Reservado para Texto 12">
            <a:extLst>
              <a:ext uri="{FF2B5EF4-FFF2-40B4-BE49-F238E27FC236}">
                <a16:creationId xmlns:a16="http://schemas.microsoft.com/office/drawing/2014/main" id="{BE1F91B9-4659-477C-BEB5-2E2458AD28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63388" y="3479389"/>
            <a:ext cx="2407288" cy="441348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8" name="Espaço Reservado para Texto 14">
            <a:extLst>
              <a:ext uri="{FF2B5EF4-FFF2-40B4-BE49-F238E27FC236}">
                <a16:creationId xmlns:a16="http://schemas.microsoft.com/office/drawing/2014/main" id="{0D283AC4-3119-402E-8625-359BC6A149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63388" y="4002374"/>
            <a:ext cx="2407288" cy="1220890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  <p:sp>
        <p:nvSpPr>
          <p:cNvPr id="9" name="Espaço Reservado para Texto 12">
            <a:extLst>
              <a:ext uri="{FF2B5EF4-FFF2-40B4-BE49-F238E27FC236}">
                <a16:creationId xmlns:a16="http://schemas.microsoft.com/office/drawing/2014/main" id="{4AD940B3-046E-41B8-B1EB-91BF7623B5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92356" y="3479389"/>
            <a:ext cx="2407288" cy="441348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0" name="Espaço Reservado para Texto 14">
            <a:extLst>
              <a:ext uri="{FF2B5EF4-FFF2-40B4-BE49-F238E27FC236}">
                <a16:creationId xmlns:a16="http://schemas.microsoft.com/office/drawing/2014/main" id="{F171048E-F715-4ADE-BB5C-3F97A3715B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92356" y="4002374"/>
            <a:ext cx="2407288" cy="1220890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  <p:sp>
        <p:nvSpPr>
          <p:cNvPr id="11" name="Espaço Reservado para Texto 12">
            <a:extLst>
              <a:ext uri="{FF2B5EF4-FFF2-40B4-BE49-F238E27FC236}">
                <a16:creationId xmlns:a16="http://schemas.microsoft.com/office/drawing/2014/main" id="{C053B85C-AF6C-499B-9C0F-2974CD8B66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21324" y="3479389"/>
            <a:ext cx="2407288" cy="441348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2" name="Espaço Reservado para Texto 14">
            <a:extLst>
              <a:ext uri="{FF2B5EF4-FFF2-40B4-BE49-F238E27FC236}">
                <a16:creationId xmlns:a16="http://schemas.microsoft.com/office/drawing/2014/main" id="{D94D2D22-5115-45C5-8B3B-AA24C28D30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21324" y="4002374"/>
            <a:ext cx="2407288" cy="1220890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</p:spTree>
    <p:extLst>
      <p:ext uri="{BB962C8B-B14F-4D97-AF65-F5344CB8AC3E}">
        <p14:creationId xmlns:p14="http://schemas.microsoft.com/office/powerpoint/2010/main" val="3461463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F241554-DE45-4792-B503-4FF9CBBC0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84F7F02-77B9-4C98-BF49-DA8AB9A3B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A6A293-16A8-4F82-8474-77BA078D3C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47907F-2D02-4CFE-9E27-66FAE7EEEF0D}" type="datetimeFigureOut">
              <a:rPr lang="pt-BR" smtClean="0"/>
              <a:t>21/07/2026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F43A7A-A3EA-47E3-A48F-8E314E4980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264E7D-77DF-4724-8EBE-7F6A24EE4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8911C3-8C66-47CF-BC59-D0DA891A4F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0863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663" r:id="rId14"/>
    <p:sldLayoutId id="2147483662" r:id="rId15"/>
    <p:sldLayoutId id="2147483651" r:id="rId16"/>
    <p:sldLayoutId id="2147483664" r:id="rId17"/>
    <p:sldLayoutId id="2147483666" r:id="rId18"/>
    <p:sldLayoutId id="2147483667" r:id="rId19"/>
    <p:sldLayoutId id="2147483668" r:id="rId20"/>
    <p:sldLayoutId id="2147483650" r:id="rId21"/>
    <p:sldLayoutId id="2147483656" r:id="rId22"/>
    <p:sldLayoutId id="2147483660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3578A2E6-FD6A-4E1E-A9AD-7C0E135D7F7E}"/>
              </a:ext>
            </a:extLst>
          </p:cNvPr>
          <p:cNvSpPr txBox="1"/>
          <p:nvPr/>
        </p:nvSpPr>
        <p:spPr>
          <a:xfrm>
            <a:off x="2104651" y="2035121"/>
            <a:ext cx="8369559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MQTT</a:t>
            </a:r>
          </a:p>
          <a:p>
            <a:endParaRPr lang="pt-BR" sz="2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pt-BR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Gerry Sanchez</a:t>
            </a:r>
          </a:p>
        </p:txBody>
      </p:sp>
    </p:spTree>
    <p:extLst>
      <p:ext uri="{BB962C8B-B14F-4D97-AF65-F5344CB8AC3E}">
        <p14:creationId xmlns:p14="http://schemas.microsoft.com/office/powerpoint/2010/main" val="474578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0EB03761-9F50-4D5C-A940-DA517A95F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410" y="1582342"/>
            <a:ext cx="10884876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b="1" dirty="0"/>
              <a:t>MQTT - </a:t>
            </a:r>
            <a:r>
              <a:rPr lang="pt-BR" dirty="0" err="1"/>
              <a:t>Message</a:t>
            </a:r>
            <a:r>
              <a:rPr lang="pt-BR" dirty="0"/>
              <a:t> </a:t>
            </a:r>
            <a:r>
              <a:rPr lang="pt-BR" dirty="0" err="1"/>
              <a:t>Queuing</a:t>
            </a:r>
            <a:r>
              <a:rPr lang="pt-BR" dirty="0"/>
              <a:t> </a:t>
            </a:r>
            <a:r>
              <a:rPr lang="pt-BR" dirty="0" err="1"/>
              <a:t>Telemetry</a:t>
            </a:r>
            <a:r>
              <a:rPr lang="pt-BR" dirty="0"/>
              <a:t> </a:t>
            </a:r>
            <a:r>
              <a:rPr lang="pt-BR" dirty="0" err="1"/>
              <a:t>Transport</a:t>
            </a:r>
            <a:endParaRPr lang="pt-B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dirty="0"/>
              <a:t>Originalmente surgiu como uma sigla MQTT (</a:t>
            </a:r>
            <a:r>
              <a:rPr lang="pt-BR" dirty="0" err="1"/>
              <a:t>Trasnporte</a:t>
            </a:r>
            <a:r>
              <a:rPr lang="pt-BR" dirty="0"/>
              <a:t> de Telemetria de Fila de Mensagem). No entanto, por motivos históricos e de padronização, a especificação oficial atual define que </a:t>
            </a:r>
            <a:r>
              <a:rPr lang="pt-BR" b="1" u="none" strike="noStrike" dirty="0">
                <a:effectLst/>
                <a:latin typeface="Google Sans"/>
              </a:rPr>
              <a:t>MQTT é apenas o nome do protocolo</a:t>
            </a:r>
            <a:r>
              <a:rPr lang="pt-BR" dirty="0"/>
              <a:t> e não significa mais nada oficialmente.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dirty="0"/>
              <a:t>É um protocolo de comunicação máquina a máquina (M2M), desenvolvido para aplicações de </a:t>
            </a:r>
            <a:r>
              <a:rPr lang="pt-BR" b="1" dirty="0"/>
              <a:t>Internet das Coisas (</a:t>
            </a:r>
            <a:r>
              <a:rPr lang="pt-BR" b="1" dirty="0" err="1"/>
              <a:t>IoT</a:t>
            </a:r>
            <a:r>
              <a:rPr lang="pt-BR" b="1" dirty="0"/>
              <a:t>)</a:t>
            </a:r>
            <a:r>
              <a:rPr lang="pt-BR" dirty="0"/>
              <a:t>, que opera sobre o protocolo </a:t>
            </a:r>
            <a:r>
              <a:rPr lang="pt-BR" b="1" dirty="0"/>
              <a:t>TCP/IP</a:t>
            </a:r>
            <a:r>
              <a:rPr lang="pt-BR" dirty="0"/>
              <a:t>, permitindo a troca eficiente de mensagens entre dispositivos conectados à rede.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dirty="0"/>
              <a:t>É extremamente leve criado para comunicação entre dispositivos com pouca capacidade de processamento e redes lentas.</a:t>
            </a:r>
            <a:r>
              <a:rPr lang="pt-BR" dirty="0">
                <a:latin typeface="Arial" panose="020B0604020202020204" pitchFamily="34" charset="0"/>
              </a:rPr>
              <a:t>  </a:t>
            </a:r>
            <a:endParaRPr lang="pt-B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545D4C3-D25A-4FBF-BD8E-4631812EF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410" y="259335"/>
            <a:ext cx="1307120" cy="1145176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3316081C-7597-4FB9-9E53-FDD3AB6F0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3332" y="4721661"/>
            <a:ext cx="8316060" cy="87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549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0EB03761-9F50-4D5C-A940-DA517A95F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333" y="1786798"/>
            <a:ext cx="1088487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dirty="0"/>
              <a:t>O </a:t>
            </a:r>
            <a:r>
              <a:rPr lang="pt-BR" b="1" dirty="0"/>
              <a:t>MQTT </a:t>
            </a:r>
            <a:r>
              <a:rPr lang="pt-BR" dirty="0"/>
              <a:t>foi criado em </a:t>
            </a:r>
            <a:r>
              <a:rPr lang="pt-BR" b="1" dirty="0"/>
              <a:t>1999</a:t>
            </a:r>
            <a:r>
              <a:rPr lang="pt-BR" dirty="0"/>
              <a:t> pelos engenheiros </a:t>
            </a:r>
            <a:r>
              <a:rPr lang="pt-BR" b="1" dirty="0"/>
              <a:t>Andy Stanford-Clark</a:t>
            </a:r>
            <a:r>
              <a:rPr lang="pt-BR" dirty="0"/>
              <a:t> (IBM) e </a:t>
            </a:r>
            <a:r>
              <a:rPr lang="pt-BR" b="1" dirty="0" err="1"/>
              <a:t>Arlen</a:t>
            </a:r>
            <a:r>
              <a:rPr lang="pt-BR" b="1" dirty="0"/>
              <a:t> </a:t>
            </a:r>
            <a:r>
              <a:rPr lang="pt-BR" b="1" dirty="0" err="1"/>
              <a:t>Nipper</a:t>
            </a:r>
            <a:r>
              <a:rPr lang="pt-BR" dirty="0"/>
              <a:t> (Arcom, atual </a:t>
            </a:r>
            <a:r>
              <a:rPr lang="pt-BR" dirty="0" err="1"/>
              <a:t>Eurotech</a:t>
            </a:r>
            <a:r>
              <a:rPr lang="pt-BR" dirty="0"/>
              <a:t>). O protocolo foi desenvolvido para permitir a comunicação eficiente entre dispositivos remotos utilizando redes com baixa largura de banda e alta latência.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dirty="0"/>
              <a:t>Sua primeira aplicação foi no </a:t>
            </a:r>
            <a:r>
              <a:rPr lang="pt-BR" b="1" dirty="0"/>
              <a:t>monitoramento de oleodutos</a:t>
            </a:r>
            <a:r>
              <a:rPr lang="pt-BR" dirty="0"/>
              <a:t>, onde sensores instalados ao longo da tubulação enviavam informações para uma central de controle por meio de conexões via </a:t>
            </a:r>
            <a:r>
              <a:rPr lang="pt-BR" b="1" dirty="0"/>
              <a:t>satélite</a:t>
            </a:r>
            <a:r>
              <a:rPr lang="pt-BR" dirty="0"/>
              <a:t>. Como esse tipo de comunicação era lento e caro, foi criado um protocolo leve, confiável e capaz de transmitir apenas os dados essenciais.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545D4C3-D25A-4FBF-BD8E-4631812EF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333" y="373635"/>
            <a:ext cx="1307120" cy="1145176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EB33FC15-B226-4D26-877D-E38B63680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4816" y="4095122"/>
            <a:ext cx="5779477" cy="2449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584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0EB03761-9F50-4D5C-A940-DA517A95F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669" y="1773952"/>
            <a:ext cx="1088487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dirty="0"/>
              <a:t>      A comunicação ocorre pelo modelo </a:t>
            </a:r>
            <a:r>
              <a:rPr lang="pt-BR" b="1" dirty="0" err="1"/>
              <a:t>Publish</a:t>
            </a:r>
            <a:r>
              <a:rPr lang="pt-BR" b="1" dirty="0"/>
              <a:t>/</a:t>
            </a:r>
            <a:r>
              <a:rPr lang="pt-BR" b="1" dirty="0" err="1"/>
              <a:t>Subscribe</a:t>
            </a:r>
            <a:r>
              <a:rPr lang="pt-BR" dirty="0"/>
              <a:t>, em que os dispositivos publicam mensagens em um </a:t>
            </a:r>
            <a:r>
              <a:rPr lang="pt-BR" b="1" dirty="0"/>
              <a:t>Broker</a:t>
            </a:r>
            <a:r>
              <a:rPr lang="pt-BR" dirty="0"/>
              <a:t>, responsável por distribuí-las aos dispositivos inscritos. As informações são organizadas em </a:t>
            </a:r>
            <a:r>
              <a:rPr lang="pt-BR" b="1" dirty="0"/>
              <a:t>tópicos (</a:t>
            </a:r>
            <a:r>
              <a:rPr lang="pt-BR" b="1" dirty="0" err="1"/>
              <a:t>topics</a:t>
            </a:r>
            <a:r>
              <a:rPr lang="pt-BR" b="1" dirty="0"/>
              <a:t>)</a:t>
            </a:r>
            <a:r>
              <a:rPr lang="pt-BR" dirty="0"/>
              <a:t>, que funcionam como canais de comunicação. Dessa forma, cada dispositivo recebe apenas os dados dos tópicos aos quais está inscrito, tornando a comunicação mais organizada, eficiente e escalável.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5845154-88C8-4C13-9789-51E27A2E4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485" y="162620"/>
            <a:ext cx="1307120" cy="1145176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CF54E619-4481-4067-865F-56EFB6875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185" y="3440437"/>
            <a:ext cx="6543675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078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0EB03761-9F50-4D5C-A940-DA517A95F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562" y="924282"/>
            <a:ext cx="10884876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b="1" dirty="0"/>
              <a:t>                        4 Componentes Principais:</a:t>
            </a:r>
          </a:p>
          <a:p>
            <a:endParaRPr lang="pt-BR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pt-BR" b="1" dirty="0" err="1"/>
              <a:t>Publish</a:t>
            </a:r>
            <a:r>
              <a:rPr lang="pt-BR" b="1" dirty="0"/>
              <a:t> (Publicar):</a:t>
            </a:r>
            <a:r>
              <a:rPr lang="pt-BR" dirty="0"/>
              <a:t> O dispositivo que envia o dado (</a:t>
            </a:r>
            <a:r>
              <a:rPr lang="pt-BR" dirty="0" err="1"/>
              <a:t>ex</a:t>
            </a:r>
            <a:r>
              <a:rPr lang="pt-BR" dirty="0"/>
              <a:t>: o sensor de temperatura).  É o dispositivo ou aplicação responsável por enviar (publicar) mensagens para um tópico (</a:t>
            </a:r>
            <a:r>
              <a:rPr lang="pt-BR" dirty="0" err="1"/>
              <a:t>Topic</a:t>
            </a:r>
            <a:r>
              <a:rPr lang="pt-BR" dirty="0"/>
              <a:t>) no Broker. Ele não precisa saber quem receberá essas mensagens; sua única função é publicar os dados no tópico correspondente.</a:t>
            </a:r>
          </a:p>
          <a:p>
            <a:pPr algn="just"/>
            <a:r>
              <a:rPr lang="pt-BR" dirty="0"/>
              <a:t>No MQTT, o </a:t>
            </a:r>
            <a:r>
              <a:rPr lang="pt-BR" b="1" dirty="0"/>
              <a:t>Publisher não conhece os destinatários</a:t>
            </a:r>
            <a:r>
              <a:rPr lang="pt-BR" dirty="0"/>
              <a:t>. Ele apenas informa ao Broker: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b="1" dirty="0"/>
              <a:t>o tópico</a:t>
            </a:r>
            <a:r>
              <a:rPr lang="pt-BR" dirty="0"/>
              <a:t> para o qual está enviando a mensagem; e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b="1" dirty="0"/>
              <a:t>o conteúdo</a:t>
            </a:r>
            <a:r>
              <a:rPr lang="pt-BR" dirty="0"/>
              <a:t> da mensagem. </a:t>
            </a:r>
          </a:p>
          <a:p>
            <a:pPr algn="just"/>
            <a:r>
              <a:rPr lang="pt-BR" dirty="0"/>
              <a:t>Quem sabe quais dispositivos receberão a mensagem é o </a:t>
            </a:r>
            <a:r>
              <a:rPr lang="pt-BR" b="1" dirty="0"/>
              <a:t>Broker</a:t>
            </a:r>
            <a:r>
              <a:rPr lang="pt-BR" dirty="0"/>
              <a:t>, pois ele mantém uma lista de todos os </a:t>
            </a:r>
            <a:r>
              <a:rPr lang="pt-BR" b="1" dirty="0" err="1"/>
              <a:t>Subscribers</a:t>
            </a:r>
            <a:r>
              <a:rPr lang="pt-BR" dirty="0"/>
              <a:t> inscritos em cada tópico.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BR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pt-BR" b="1" dirty="0" err="1"/>
              <a:t>Subscribe</a:t>
            </a:r>
            <a:r>
              <a:rPr lang="pt-BR" b="1" dirty="0"/>
              <a:t> (Assinar):</a:t>
            </a:r>
            <a:r>
              <a:rPr lang="pt-BR" dirty="0"/>
              <a:t> O dispositivo que quer receber o dado (</a:t>
            </a:r>
            <a:r>
              <a:rPr lang="pt-BR" dirty="0" err="1"/>
              <a:t>ex</a:t>
            </a:r>
            <a:r>
              <a:rPr lang="pt-BR" dirty="0"/>
              <a:t>: um aplicativo de celular ou um painel de controle). É a ação realizada por um dispositivo ou aplicação para informar ao Broker que deseja receber as mensagens publicadas em um determinado tópico (</a:t>
            </a:r>
            <a:r>
              <a:rPr lang="pt-BR" dirty="0" err="1"/>
              <a:t>Topic</a:t>
            </a:r>
            <a:r>
              <a:rPr lang="pt-BR" dirty="0"/>
              <a:t>).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BR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pt-BR" b="1" dirty="0"/>
              <a:t>Broker (Intermediário):</a:t>
            </a:r>
            <a:r>
              <a:rPr lang="pt-BR" dirty="0"/>
              <a:t> O cérebro do sistema. Ele recebe as mensagens dos publicadores e as entrega para os assinantes certos. Exemplos populares de Broker</a:t>
            </a:r>
            <a:r>
              <a:rPr lang="pt-BR" b="1" dirty="0"/>
              <a:t> </a:t>
            </a:r>
            <a:r>
              <a:rPr lang="pt-BR" dirty="0"/>
              <a:t>: </a:t>
            </a:r>
            <a:r>
              <a:rPr lang="pt-BR" i="1" dirty="0" err="1"/>
              <a:t>Mosquitto</a:t>
            </a:r>
            <a:r>
              <a:rPr lang="pt-BR" dirty="0"/>
              <a:t>, </a:t>
            </a:r>
            <a:r>
              <a:rPr lang="pt-BR" i="1" dirty="0" err="1"/>
              <a:t>HiveMQ</a:t>
            </a:r>
            <a:r>
              <a:rPr lang="pt-BR" dirty="0"/>
              <a:t> e </a:t>
            </a:r>
            <a:r>
              <a:rPr lang="pt-BR" i="1" dirty="0"/>
              <a:t>EMQX</a:t>
            </a:r>
            <a:r>
              <a:rPr lang="pt-BR" dirty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BR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pt-BR" b="1" dirty="0" err="1"/>
              <a:t>Topic</a:t>
            </a:r>
            <a:r>
              <a:rPr lang="pt-BR" b="1" dirty="0"/>
              <a:t> (Tópico):</a:t>
            </a:r>
            <a:r>
              <a:rPr lang="pt-BR" dirty="0"/>
              <a:t> O endereço da mensagem. É uma </a:t>
            </a:r>
            <a:r>
              <a:rPr lang="pt-BR" dirty="0" err="1"/>
              <a:t>string</a:t>
            </a:r>
            <a:r>
              <a:rPr lang="pt-BR" dirty="0"/>
              <a:t> textual separada por barras, como se fossem pastas de um computador.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3A23FC9-0B3A-406C-9285-EFA77FF89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94" y="74696"/>
            <a:ext cx="1307120" cy="114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945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3A23FC9-0B3A-406C-9285-EFA77FF89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847" y="373635"/>
            <a:ext cx="1307120" cy="114517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8E554E3-3775-4728-BBAC-A13D25874CC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8102" y="1723292"/>
            <a:ext cx="7472713" cy="486121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876FFEC-C617-4A16-B8DF-FE6FE940DB34}"/>
              </a:ext>
            </a:extLst>
          </p:cNvPr>
          <p:cNvSpPr txBox="1"/>
          <p:nvPr/>
        </p:nvSpPr>
        <p:spPr>
          <a:xfrm>
            <a:off x="1863967" y="789021"/>
            <a:ext cx="9961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Interface de testes para o protocolo </a:t>
            </a:r>
            <a:r>
              <a:rPr lang="pt-BR" b="1" dirty="0"/>
              <a:t>MQTT</a:t>
            </a:r>
            <a:r>
              <a:rPr lang="pt-BR" dirty="0"/>
              <a:t> (usando a plataforma </a:t>
            </a:r>
            <a:r>
              <a:rPr lang="pt-BR" dirty="0" err="1"/>
              <a:t>HiveMQ</a:t>
            </a:r>
            <a:r>
              <a:rPr lang="pt-BR" dirty="0"/>
              <a:t>). Os campos destacados em vermelho são para estabelecer a conexão e realizar a comunicação.</a:t>
            </a:r>
          </a:p>
        </p:txBody>
      </p:sp>
    </p:spTree>
    <p:extLst>
      <p:ext uri="{BB962C8B-B14F-4D97-AF65-F5344CB8AC3E}">
        <p14:creationId xmlns:p14="http://schemas.microsoft.com/office/powerpoint/2010/main" val="36333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3A23FC9-0B3A-406C-9285-EFA77FF89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032" y="400012"/>
            <a:ext cx="1307120" cy="1145176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226744AC-392D-477D-9AEE-FDFF61C69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032" y="1629761"/>
            <a:ext cx="10553701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Seção: Connection (Conexão)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Host (broker.hivemq.com):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É o endereço do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servidor central (Broker MQTT)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ao qual o seu dispositivo ou aplicação vai se conectar. O broker é o responsável por receber todas as mensagens enviadas e distribuí-las para os destinatários corretos.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Port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(8884):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É a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porta de rede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utilizada para a comunicação com o broker. A porta 8884 é comumente utilizada para conexões MQTT seguras via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WebSockets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dirty="0"/>
              <a:t> </a:t>
            </a:r>
            <a:r>
              <a:rPr lang="pt-BR" dirty="0" err="1"/>
              <a:t>WebSocket</a:t>
            </a:r>
            <a:r>
              <a:rPr lang="pt-BR" dirty="0"/>
              <a:t> é uma tecnologia que mantém uma conexão contínua e bidirecional entre cliente e servidor, permitindo a troca de dados em tempo real sem novas requisições HTTP. Essa abordagem reduz a latência, diminui o tráfego na rede e é amplamente utilizada em chats, jogos, monitoramento e aplicações de </a:t>
            </a:r>
            <a:r>
              <a:rPr lang="pt-BR" dirty="0" err="1"/>
              <a:t>IoT</a:t>
            </a:r>
            <a:r>
              <a:rPr lang="pt-BR" dirty="0"/>
              <a:t>.</a:t>
            </a: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SSL (marcado com X):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Indica que a conexão está utilizando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criptografia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Secure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Sockets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Layer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/ TLS). Isso garante que os dados trocados entre o seu cliente e o broker sejam protegidos e não possam ser interceptados facilmente.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8686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3A23FC9-0B3A-406C-9285-EFA77FF89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032" y="400012"/>
            <a:ext cx="1307120" cy="114517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B0CA0484-03A7-498C-A038-951D95310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2687" y="1871662"/>
            <a:ext cx="7286625" cy="311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475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99C364338B30B4389BB5636058D5303" ma:contentTypeVersion="17" ma:contentTypeDescription="Crie um novo documento." ma:contentTypeScope="" ma:versionID="f4d8a890bb48bc872678d23dcc07f0d6">
  <xsd:schema xmlns:xsd="http://www.w3.org/2001/XMLSchema" xmlns:xs="http://www.w3.org/2001/XMLSchema" xmlns:p="http://schemas.microsoft.com/office/2006/metadata/properties" xmlns:ns2="2e1bc0ce-511d-4639-bd57-6f2a22c1453a" xmlns:ns3="6820a4c7-7d03-44f7-b2ee-6cfdcaf35dea" targetNamespace="http://schemas.microsoft.com/office/2006/metadata/properties" ma:root="true" ma:fieldsID="9b4f39e6d3dd054d4173792bd2fe7eb9" ns2:_="" ns3:_="">
    <xsd:import namespace="2e1bc0ce-511d-4639-bd57-6f2a22c1453a"/>
    <xsd:import namespace="6820a4c7-7d03-44f7-b2ee-6cfdcaf35d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1bc0ce-511d-4639-bd57-6f2a22c145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20a4c7-7d03-44f7-b2ee-6cfdcaf35dea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DD6E9BE-EE6C-418C-9806-97B7B8DB7C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1bc0ce-511d-4639-bd57-6f2a22c1453a"/>
    <ds:schemaRef ds:uri="6820a4c7-7d03-44f7-b2ee-6cfdcaf35de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1E74420-E093-4109-A3B0-206C20A2B7F4}">
  <ds:schemaRefs>
    <ds:schemaRef ds:uri="7008c76c-32da-4c2a-9f5b-643db45850c7"/>
    <ds:schemaRef ds:uri="768f563f-d5fe-4ef0-bcc1-9f136259460a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83047F0-BBA6-4AE1-868C-9775BDE597D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3404</TotalTime>
  <Words>722</Words>
  <Application>Microsoft Office PowerPoint</Application>
  <PresentationFormat>Widescreen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Calibri</vt:lpstr>
      <vt:lpstr>Calibri Light</vt:lpstr>
      <vt:lpstr>Google Sans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Sistema Fiergs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Rafael Martins da Rosa</dc:creator>
  <cp:lastModifiedBy>Gerry Sanchez</cp:lastModifiedBy>
  <cp:revision>615</cp:revision>
  <dcterms:created xsi:type="dcterms:W3CDTF">2024-09-04T17:33:02Z</dcterms:created>
  <dcterms:modified xsi:type="dcterms:W3CDTF">2026-07-22T01:23:55Z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0x010100899C364338B30B4389BB5636058D5303</vt:lpwstr>
  </property>
  <property fmtid="{D5CDD505-2E9C-101B-9397-08002B2CF9AE}" pid="3" name="MediaServiceImageTags">
    <vt:lpwstr/>
  </property>
  <property fmtid="{D5CDD505-2E9C-101B-9397-08002B2CF9AE}" pid="4" name="Order">
    <vt:r8>5865100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